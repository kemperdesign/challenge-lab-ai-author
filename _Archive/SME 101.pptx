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584DF-826D-4C1C-813D-DAC14E140090}" v="1" dt="2025-09-25T15:28:44.14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EEDE6-DA27-4A0B-8CE4-A134EF89B78F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3B902-1DA3-4954-9C82-2DFAD438A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83B902-1DA3-4954-9C82-2DFAD438A5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83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83B902-1DA3-4954-9C82-2DFAD438A5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70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4FD7B-E223-5EA0-4065-6644514D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99966-BFC8-EC95-7A4B-1501B1D84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181B2-518E-55DC-52F7-87F1BE7D3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F4E4F-1334-3896-AB09-0A29B763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D08B-9981-502A-2016-FA7CD319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7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C4155-4F26-97AB-79D0-B389ED34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8ECE-1A99-261D-AE39-17E1B160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F3AD-32B0-974B-F3BD-31BFE2C7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675EF-8639-42CA-1303-2CD281AF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8F99-F730-1B26-92CC-A6D0B381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5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AC37C-FEDD-FEB0-84A6-ACF8DEA0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C7A2D-A7E1-86C6-870B-15B1E5A01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07F1C-82E9-E99E-54C8-D5D4A239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C5FD1-9A8B-977E-A668-6DD4499B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AD979-0498-C89B-7721-8A59BF47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4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2697-D878-B9E5-0503-843170CC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1AFEB-7623-1CB3-28C5-18CB54306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C3DA5-046A-ECA2-EF55-4872E4C92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42CAB-0A1E-7DCA-BA43-F980E32A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985AF-3CEB-6AEE-ACF9-0C6D2A3E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AB9F0-312D-2B24-8D1B-6EB2394B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5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2F2C-63F7-8D83-AB27-E16542D4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4385C-2AB5-52FF-A8BE-DB4B3ABC4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29840-95BF-61A8-52E2-6347E7E14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5BBB2-4D32-BFD4-1DA6-8C0A047C9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1BF08-D95F-3832-7162-ACAAE9AA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39591-C334-6364-65BA-0D247F5D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F7D49-70FD-ACCF-DC40-E4E6B1F0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1CAEE-E77D-BB1B-B76F-20F95366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46ED-2EBD-8218-695F-0435AFED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DEAF1-8996-73F3-FE99-F60D9E6B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DB310-FAA1-EF10-2315-AC11F5D6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51C75-BE60-ECF9-4B63-6F7AB9DF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5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FDF2D-CC3F-E4A1-5F6F-AB4B2F1A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4B683-8025-D589-ACC5-DD360134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A1F39-867F-B2F6-7962-C0845134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565D-56BC-0252-8EAE-69669CD2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6A505-876C-5FE3-313D-723CE55D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74BB7-EA5E-7416-4066-567AEA264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F8159-74D5-DB96-1F2E-3051A320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BD303-0B16-62A0-FB9B-21BD81E5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1D4CB-E556-4A33-B0D9-04A6A14A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8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2CBA-77C1-F4A4-862A-6EFA062D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71482-D241-2A4A-9017-F0505D0E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85D27-C3C7-9DC7-4703-EEC37C90F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6C7AF-C62E-6958-24C7-26B05BA2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6F0D6-7274-3318-3750-CC459D9B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3EE33-2E8B-A101-84C2-3B2E48CD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6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74E5-B6FF-28E7-0F73-856F8CB3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E3151-36F6-8DA1-3D61-3FE4F291F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8753-01DE-7504-637E-8F9DE374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BFDF-940F-E171-B8D9-96C975B1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CE9F-87C2-CEE9-5E04-EA01E0F8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01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1E416-62D8-067E-DD23-436EA2F15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B7218-5C0F-731E-C82E-7D027150C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758AD-C810-4D00-3DE0-399B87696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6DCB2-6A42-A928-6022-E0FDF7C9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AA4C6-1203-5A63-382F-41357939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E2614-88DE-0976-ADBB-286332C8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DD1D2-6893-AB1C-F364-4438E5519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1F40B-A6D8-D1E8-DE4B-D28AB6FCC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529CF-FDD1-4A10-AEBB-56DC4EDCFE21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7828-1765-F177-2FAE-D3C70EEB3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73B4-8D09-5FD0-D228-3C66C6E3A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CF1E2-C6EE-4D0D-84AC-71A4C7D9D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bondemand.com/LabProfile/17986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4D2826-5957-4CF9-9625-F7AEA7F44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40" y="198438"/>
            <a:ext cx="11663680" cy="624522"/>
          </a:xfrm>
        </p:spPr>
        <p:txBody>
          <a:bodyPr/>
          <a:lstStyle/>
          <a:p>
            <a:pPr algn="l"/>
            <a:r>
              <a:rPr lang="en-US"/>
              <a:t>Skillable Challenges Design Tenants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A6E50-D750-4075-785D-594C3D2CF2A7}"/>
              </a:ext>
            </a:extLst>
          </p:cNvPr>
          <p:cNvSpPr txBox="1"/>
          <p:nvPr/>
        </p:nvSpPr>
        <p:spPr>
          <a:xfrm>
            <a:off x="6315588" y="4080378"/>
            <a:ext cx="5642732" cy="255454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600"/>
              <a:t>Each Challenge should contain: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overview that sets the scene for the Challenge and outlines the tasks the learner will perform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 series of tasks that contain the configuration requirements the learner will perform.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 means of verification, allowing the learner to gauge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Summarizes and highlights what the learner accomplished and provides information about related content that learners can use to build skills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4BB24-C48D-1BC8-F46B-E1DD2BC6627B}"/>
              </a:ext>
            </a:extLst>
          </p:cNvPr>
          <p:cNvSpPr txBox="1"/>
          <p:nvPr/>
        </p:nvSpPr>
        <p:spPr>
          <a:xfrm>
            <a:off x="453268" y="4080379"/>
            <a:ext cx="5642732" cy="255454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600"/>
              <a:t>Methodology: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Skillable Challenges are different from traditional step-by-step labs and ask learners to prove their skills by doing instead of following prescriptive step-by-step instructions.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Skillable Challenges are problem-centered and focused on end results. Empowering learners to explore, practice and “learn while doing” versus following a set of linear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They are goal-oriented, short-duration, hands-on scored labs that bring </a:t>
            </a:r>
            <a:r>
              <a:rPr lang="en-US" sz="1600">
                <a:ea typeface="Times New Roman" panose="02020603050405020304" pitchFamily="18" charset="0"/>
              </a:rPr>
              <a:t>skills validation to the forefront of the  learner experience. </a:t>
            </a:r>
            <a:endParaRPr lang="en-US" sz="1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0222F8-4913-E7F7-5EAB-1E599C94B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7" y="899353"/>
            <a:ext cx="10009238" cy="29329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545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512C-D397-9E4B-2F62-18267BC9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B9690C-16E2-C7FE-5587-F1FA729D8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40" y="178774"/>
            <a:ext cx="11663680" cy="624522"/>
          </a:xfrm>
        </p:spPr>
        <p:txBody>
          <a:bodyPr/>
          <a:lstStyle/>
          <a:p>
            <a:pPr algn="l"/>
            <a:r>
              <a:rPr lang="en-US"/>
              <a:t>Authoring/Formatting Skillable Challenges Cheat Sheet(s) – Learner Experience by Level</a:t>
            </a:r>
          </a:p>
          <a:p>
            <a:pPr algn="l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2072B-58A4-D5B1-0C66-F9E70A208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108635"/>
              </p:ext>
            </p:extLst>
          </p:nvPr>
        </p:nvGraphicFramePr>
        <p:xfrm>
          <a:off x="294640" y="803296"/>
          <a:ext cx="11402492" cy="5583215"/>
        </p:xfrm>
        <a:graphic>
          <a:graphicData uri="http://schemas.openxmlformats.org/drawingml/2006/table">
            <a:tbl>
              <a:tblPr firstRow="1" bandCol="1">
                <a:tableStyleId>{5940675A-B579-460E-94D1-54222C63F5DA}</a:tableStyleId>
              </a:tblPr>
              <a:tblGrid>
                <a:gridCol w="2850623">
                  <a:extLst>
                    <a:ext uri="{9D8B030D-6E8A-4147-A177-3AD203B41FA5}">
                      <a16:colId xmlns:a16="http://schemas.microsoft.com/office/drawing/2014/main" val="3281925763"/>
                    </a:ext>
                  </a:extLst>
                </a:gridCol>
                <a:gridCol w="2850623">
                  <a:extLst>
                    <a:ext uri="{9D8B030D-6E8A-4147-A177-3AD203B41FA5}">
                      <a16:colId xmlns:a16="http://schemas.microsoft.com/office/drawing/2014/main" val="959538577"/>
                    </a:ext>
                  </a:extLst>
                </a:gridCol>
                <a:gridCol w="2850623">
                  <a:extLst>
                    <a:ext uri="{9D8B030D-6E8A-4147-A177-3AD203B41FA5}">
                      <a16:colId xmlns:a16="http://schemas.microsoft.com/office/drawing/2014/main" val="4287816608"/>
                    </a:ext>
                  </a:extLst>
                </a:gridCol>
                <a:gridCol w="2850623">
                  <a:extLst>
                    <a:ext uri="{9D8B030D-6E8A-4147-A177-3AD203B41FA5}">
                      <a16:colId xmlns:a16="http://schemas.microsoft.com/office/drawing/2014/main" val="3608880251"/>
                    </a:ext>
                  </a:extLst>
                </a:gridCol>
              </a:tblGrid>
              <a:tr h="291927">
                <a:tc>
                  <a:txBody>
                    <a:bodyPr/>
                    <a:lstStyle/>
                    <a:p>
                      <a:pPr algn="l" fontAlgn="ctr"/>
                      <a:endParaRPr lang="en-US" sz="9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Guided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Advanced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Expert </a:t>
                      </a:r>
                      <a:endParaRPr lang="en-US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397729690"/>
                  </a:ext>
                </a:extLst>
              </a:tr>
              <a:tr h="2816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Duration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15-30 minutes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30-45 minutes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45-60 minutes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321161362"/>
                  </a:ext>
                </a:extLst>
              </a:tr>
              <a:tr h="6961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Audience Level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Familiar with concept but lacking experience and knowledge.  Needs to be led through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Good understanding of some but not all the topics.  Able to work with more complex scenarios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Solid understanding of all topics, interested in testing themselves to find gaps in knowledge and skill.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539744661"/>
                  </a:ext>
                </a:extLst>
              </a:tr>
              <a:tr h="8084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Tone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One on one mentor talking to learner.  “You need to complete these steps….”.  Instructions are worded as procedures.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One on one, mentor to learner, posed as needs or wants/requirements, worded as goals.  “You need to configure x to do y”.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Formalized – use exam style language.  “You are required to” and “Requirements”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860112800"/>
                  </a:ext>
                </a:extLst>
              </a:tr>
              <a:tr h="2816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Challenge Title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Posed as statement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Posed as question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Posed as a question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589357437"/>
                  </a:ext>
                </a:extLst>
              </a:tr>
              <a:tr h="884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Scenario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Keep as simple as possible. 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Somewhat Complex -  Need to know information but may be include additional context to provide richer context.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Complex -  Need to know information but may be include additional content to provide richer context.  May  include diagrams, resource table, etc.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584049911"/>
                  </a:ext>
                </a:extLst>
              </a:tr>
              <a:tr h="3592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Pages of Work (Requirements)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2-4 Pages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3-8 Pages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3-8 Pages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42865400"/>
                  </a:ext>
                </a:extLst>
              </a:tr>
              <a:tr h="5838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Tasks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Supportive, but encourages discovery as opposed to exact prescriptive tasks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Support the requirements but multiple tasks are summarized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Support the requirements but multiple tasks are summarized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937516641"/>
                  </a:ext>
                </a:extLst>
              </a:tr>
              <a:tr h="4715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Hints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What to do, generalized.  Think of this as a bread crumb trail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Where to find out what to do, but not specifically what to do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1231364604"/>
                  </a:ext>
                </a:extLst>
              </a:tr>
              <a:tr h="6961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Validation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Series of scored binary statements scored as they are completed with final score calculated at the end.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Series of scored binary statements scored as they are completed with final score calculated at the end.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Set of requirements presented as you go, but all verified/scored at the very end of the challenge.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427394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66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C3E0-4720-BCFD-CDE3-F788A673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8E0DD3-A704-FAC3-6447-113739499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40" y="178774"/>
            <a:ext cx="11663680" cy="624522"/>
          </a:xfrm>
        </p:spPr>
        <p:txBody>
          <a:bodyPr/>
          <a:lstStyle/>
          <a:p>
            <a:pPr algn="l"/>
            <a:r>
              <a:rPr lang="en-US"/>
              <a:t>Authoring/Formatting Skillable Challenges Cheat Sheet(s) - Structure and Format</a:t>
            </a:r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0200B-4B96-9E9A-091D-A3E5D05A689D}"/>
              </a:ext>
            </a:extLst>
          </p:cNvPr>
          <p:cNvSpPr txBox="1"/>
          <p:nvPr/>
        </p:nvSpPr>
        <p:spPr>
          <a:xfrm>
            <a:off x="84538" y="1092154"/>
            <a:ext cx="5702711" cy="156966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Title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/>
              <a:t>A Guided challenge </a:t>
            </a:r>
            <a:r>
              <a:rPr lang="en-US" sz="1600" b="1"/>
              <a:t>title </a:t>
            </a:r>
            <a:r>
              <a:rPr lang="en-US" sz="1600"/>
              <a:t>must begin with an action verb. 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/>
              <a:t>An Advanced or Expert Challenge Lab </a:t>
            </a:r>
            <a:r>
              <a:rPr lang="en-US" sz="1600" b="1"/>
              <a:t>title </a:t>
            </a:r>
            <a:r>
              <a:rPr lang="en-US" sz="1600"/>
              <a:t>is phrased in the form of a question and begins with the words “Can You …?” 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1600"/>
              <a:t>The </a:t>
            </a:r>
            <a:r>
              <a:rPr lang="en-US" sz="1600" b="1"/>
              <a:t>title </a:t>
            </a:r>
            <a:r>
              <a:rPr lang="en-US" sz="1600"/>
              <a:t>should reflect the key skills being tested in the Challenge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64993C-5C32-2621-089B-CDF30B0A675A}"/>
              </a:ext>
            </a:extLst>
          </p:cNvPr>
          <p:cNvSpPr txBox="1"/>
          <p:nvPr/>
        </p:nvSpPr>
        <p:spPr>
          <a:xfrm>
            <a:off x="117986" y="3221394"/>
            <a:ext cx="7518419" cy="3293209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Overview</a:t>
            </a:r>
          </a:p>
          <a:p>
            <a:r>
              <a:rPr lang="en-US" altLang="en-US" sz="1600"/>
              <a:t>Elements:</a:t>
            </a:r>
          </a:p>
          <a:p>
            <a:pPr marL="285750" lvl="0" indent="-285750" eaLnBrk="0" fontAlgn="base" hangingPunct="0">
              <a:lnSpc>
                <a:spcPts val="12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</a:rPr>
              <a:t>The Scenario      </a:t>
            </a:r>
          </a:p>
          <a:p>
            <a:pPr marL="285750" lvl="0" indent="-285750" eaLnBrk="0" fontAlgn="base" hangingPunct="0">
              <a:lnSpc>
                <a:spcPts val="12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</a:rPr>
              <a:t>The Job Title</a:t>
            </a:r>
          </a:p>
          <a:p>
            <a:pPr marL="285750" lvl="0" indent="-285750" eaLnBrk="0" fontAlgn="base" hangingPunct="0">
              <a:lnSpc>
                <a:spcPts val="12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</a:rPr>
              <a:t>The Company Name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Arial" panose="020B0604020202020204" pitchFamily="34" charset="0"/>
              </a:rPr>
              <a:t>Sample Scenario Verbiage:</a:t>
            </a:r>
          </a:p>
          <a:p>
            <a:r>
              <a:rPr lang="en-US" sz="1200"/>
              <a:t>You are a @lab.Variable(GlobalSecurityEngineer) for @lab.Variable(GlobalCompany), an organization that needs to rapidly deploy custom webservers securely. </a:t>
            </a:r>
          </a:p>
          <a:p>
            <a:endParaRPr lang="en-US" sz="1200"/>
          </a:p>
          <a:p>
            <a:r>
              <a:rPr lang="en-US" sz="1200"/>
              <a:t>In this Challenge Lab, you will configure a secure custom Amazon Machine Image (AMI). First, you will launch and patch a new Linux instance. Next, you will configure the instance with Apache webserver while hardening its security configuration, and then you will create a custom AMI from the instance. Finally, you will launch a new production webserver by using the custom AMI.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9EE064-2A6B-E429-0276-28AF33134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665" y="3910492"/>
            <a:ext cx="3369534" cy="23083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40BEF8-ED1D-45FF-ABEA-F506FA4EE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592" y="1030097"/>
            <a:ext cx="1710813" cy="16016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A9EFF5-5012-3BCB-CC81-5C8717936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697" y="1078521"/>
            <a:ext cx="1637204" cy="16016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F2FE17D-2FCD-FC16-B4F7-258C054B4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1927" y="1019039"/>
            <a:ext cx="1939161" cy="16126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558E6B0-5EF7-BAA4-0F41-6FD603D299C6}"/>
              </a:ext>
            </a:extLst>
          </p:cNvPr>
          <p:cNvSpPr/>
          <p:nvPr/>
        </p:nvSpPr>
        <p:spPr>
          <a:xfrm>
            <a:off x="5925592" y="1941716"/>
            <a:ext cx="1710813" cy="4565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7E4986-39A1-9E7E-6822-C39202381DBB}"/>
              </a:ext>
            </a:extLst>
          </p:cNvPr>
          <p:cNvSpPr/>
          <p:nvPr/>
        </p:nvSpPr>
        <p:spPr>
          <a:xfrm>
            <a:off x="7994429" y="1937676"/>
            <a:ext cx="1710813" cy="4565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23F450-2E88-BB57-A9FC-E6B90E7AC122}"/>
              </a:ext>
            </a:extLst>
          </p:cNvPr>
          <p:cNvSpPr/>
          <p:nvPr/>
        </p:nvSpPr>
        <p:spPr>
          <a:xfrm>
            <a:off x="10063266" y="1905269"/>
            <a:ext cx="1857822" cy="488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3BEE23-D4E4-A0FE-B820-BC33A96F30DD}"/>
              </a:ext>
            </a:extLst>
          </p:cNvPr>
          <p:cNvSpPr txBox="1"/>
          <p:nvPr/>
        </p:nvSpPr>
        <p:spPr>
          <a:xfrm>
            <a:off x="2585885" y="3848752"/>
            <a:ext cx="3775586" cy="726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ts val="12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</a:rPr>
              <a:t>The problem solving for</a:t>
            </a:r>
          </a:p>
          <a:p>
            <a:pPr marL="285750" lvl="0" indent="-285750" eaLnBrk="0" fontAlgn="base" hangingPunct="0">
              <a:lnSpc>
                <a:spcPts val="1200"/>
              </a:lnSpc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0000"/>
                </a:solidFill>
              </a:rPr>
              <a:t>Description of what will be accomplished in the Challenge</a:t>
            </a:r>
          </a:p>
        </p:txBody>
      </p:sp>
    </p:spTree>
    <p:extLst>
      <p:ext uri="{BB962C8B-B14F-4D97-AF65-F5344CB8AC3E}">
        <p14:creationId xmlns:p14="http://schemas.microsoft.com/office/powerpoint/2010/main" val="139775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B66B-7EDD-12DC-5D48-84B4B4AF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FAE8A4-CCF9-A59B-5758-0EA0A0924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40" y="178774"/>
            <a:ext cx="11663680" cy="624522"/>
          </a:xfrm>
        </p:spPr>
        <p:txBody>
          <a:bodyPr/>
          <a:lstStyle/>
          <a:p>
            <a:pPr algn="l"/>
            <a:r>
              <a:rPr lang="en-US"/>
              <a:t>Authoring/Formatting Skillable Challenges Cheat Sheet(s) - Structure and Format</a:t>
            </a:r>
          </a:p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7D014-7400-65B5-5321-E1C07E96694F}"/>
              </a:ext>
            </a:extLst>
          </p:cNvPr>
          <p:cNvSpPr txBox="1"/>
          <p:nvPr/>
        </p:nvSpPr>
        <p:spPr>
          <a:xfrm>
            <a:off x="233680" y="618551"/>
            <a:ext cx="5018404" cy="353943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600"/>
              <a:t>Requirement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Task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Hint (Guided) – high level 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Hint (Advanced) – link to documentation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Task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Hint (Guided) – high level 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Hint (Advanced) – link to documentation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Task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Hint (Guided) – high level 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Hint (Advanced) – link to documentation</a:t>
            </a:r>
          </a:p>
          <a:p>
            <a:endParaRPr lang="en-US" sz="1600"/>
          </a:p>
          <a:p>
            <a:r>
              <a:rPr lang="en-US" sz="1600"/>
              <a:t>Check your 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A130D3-FB43-183A-5CA4-5231E260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776" y="624522"/>
            <a:ext cx="6596685" cy="605470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96D1F7-F0D2-C613-40DF-62A6C3F256F3}"/>
              </a:ext>
            </a:extLst>
          </p:cNvPr>
          <p:cNvSpPr/>
          <p:nvPr/>
        </p:nvSpPr>
        <p:spPr>
          <a:xfrm>
            <a:off x="5510776" y="575021"/>
            <a:ext cx="2276372" cy="427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6BD76-3C59-B3D0-AFE0-C810CA255873}"/>
              </a:ext>
            </a:extLst>
          </p:cNvPr>
          <p:cNvSpPr/>
          <p:nvPr/>
        </p:nvSpPr>
        <p:spPr>
          <a:xfrm>
            <a:off x="5643512" y="1448638"/>
            <a:ext cx="6314808" cy="427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3C130-2530-5D86-2C0D-E3538CA4D650}"/>
              </a:ext>
            </a:extLst>
          </p:cNvPr>
          <p:cNvSpPr/>
          <p:nvPr/>
        </p:nvSpPr>
        <p:spPr>
          <a:xfrm>
            <a:off x="5776248" y="1926008"/>
            <a:ext cx="4370642" cy="14169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0049C-05EF-53B2-BB42-43AD5D90546D}"/>
              </a:ext>
            </a:extLst>
          </p:cNvPr>
          <p:cNvSpPr txBox="1"/>
          <p:nvPr/>
        </p:nvSpPr>
        <p:spPr>
          <a:xfrm>
            <a:off x="373144" y="5162231"/>
            <a:ext cx="4739475" cy="1077218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sz="1600" i="0">
                <a:solidFill>
                  <a:srgbClr val="000000"/>
                </a:solidFill>
                <a:effectLst/>
              </a:rPr>
              <a:t>Skillable </a:t>
            </a:r>
            <a:r>
              <a:rPr lang="en-US" sz="1600">
                <a:solidFill>
                  <a:srgbClr val="000000"/>
                </a:solidFill>
              </a:rPr>
              <a:t>Challenges contain no less than 3 Requirements. </a:t>
            </a:r>
            <a:r>
              <a:rPr lang="en-US" sz="1600" i="0">
                <a:solidFill>
                  <a:srgbClr val="2580CC"/>
                </a:solidFill>
                <a:effectLst/>
              </a:rPr>
              <a:t>Requirements </a:t>
            </a:r>
            <a:r>
              <a:rPr lang="en-US" sz="1600" i="0">
                <a:solidFill>
                  <a:srgbClr val="000000"/>
                </a:solidFill>
                <a:effectLst/>
              </a:rPr>
              <a:t>are made up of Tasks. In Guided and Advanced Challenge Labs, the Tasks also contain Hints</a:t>
            </a:r>
            <a:endParaRPr lang="en-US" sz="16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3B8BADF-B4BC-4DA5-BABE-22467FB7C2A0}"/>
              </a:ext>
            </a:extLst>
          </p:cNvPr>
          <p:cNvCxnSpPr/>
          <p:nvPr/>
        </p:nvCxnSpPr>
        <p:spPr>
          <a:xfrm flipV="1">
            <a:off x="1750142" y="788955"/>
            <a:ext cx="3760634" cy="143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22FB7E-3025-24A8-340B-54B6FA177750}"/>
              </a:ext>
            </a:extLst>
          </p:cNvPr>
          <p:cNvCxnSpPr>
            <a:cxnSpLocks/>
          </p:cNvCxnSpPr>
          <p:nvPr/>
        </p:nvCxnSpPr>
        <p:spPr>
          <a:xfrm flipV="1">
            <a:off x="1056788" y="1662572"/>
            <a:ext cx="4593453" cy="371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224CA1-1138-D843-ED40-CB00838411CF}"/>
              </a:ext>
            </a:extLst>
          </p:cNvPr>
          <p:cNvCxnSpPr>
            <a:cxnSpLocks/>
          </p:cNvCxnSpPr>
          <p:nvPr/>
        </p:nvCxnSpPr>
        <p:spPr>
          <a:xfrm>
            <a:off x="3815677" y="2254385"/>
            <a:ext cx="196057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1D79C9-5EE6-4CAC-C313-F4DA677BAF45}"/>
              </a:ext>
            </a:extLst>
          </p:cNvPr>
          <p:cNvCxnSpPr>
            <a:cxnSpLocks/>
          </p:cNvCxnSpPr>
          <p:nvPr/>
        </p:nvCxnSpPr>
        <p:spPr>
          <a:xfrm>
            <a:off x="4688653" y="2598905"/>
            <a:ext cx="1087595" cy="475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809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9ED0-B954-1D81-D209-C82F90A5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121700-B4B1-DD82-0D14-46979BE29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640" y="178774"/>
            <a:ext cx="11663680" cy="624522"/>
          </a:xfrm>
        </p:spPr>
        <p:txBody>
          <a:bodyPr/>
          <a:lstStyle/>
          <a:p>
            <a:pPr algn="l"/>
            <a:r>
              <a:rPr lang="en-US"/>
              <a:t>Authoring/Formatting Skillable Challenges Cheat Sheet(s) – </a:t>
            </a:r>
            <a:r>
              <a:rPr lang="en-US">
                <a:hlinkClick r:id="rId3"/>
              </a:rPr>
              <a:t>Markdown/Template View</a:t>
            </a:r>
            <a:endParaRPr lang="en-US"/>
          </a:p>
          <a:p>
            <a:pPr algn="l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CE9807-D610-D809-7C6F-B3C63EA9A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93" y="577556"/>
            <a:ext cx="7049157" cy="58755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82EF7-5A9E-52AA-93EE-C680C3147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103" y="803296"/>
            <a:ext cx="6877116" cy="5963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7347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Microsoft Office PowerPoint</Application>
  <PresentationFormat>Widescreen</PresentationFormat>
  <Paragraphs>86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Neace</dc:creator>
  <cp:lastModifiedBy>Ashley Neace</cp:lastModifiedBy>
  <cp:revision>3</cp:revision>
  <dcterms:created xsi:type="dcterms:W3CDTF">2025-09-25T14:11:20Z</dcterms:created>
  <dcterms:modified xsi:type="dcterms:W3CDTF">2025-09-26T15:46:56Z</dcterms:modified>
</cp:coreProperties>
</file>